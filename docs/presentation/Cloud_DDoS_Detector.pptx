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6EDF3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E6EDF3"/>
                </a:solidFill>
                <a:latin typeface="+mn-lt"/>
              </a:rPr>
              <a:t>Class balance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Flows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ADE80"/>
              </a:solidFill>
              <a:ln w="25400" cap="flat">
                <a:solidFill>
                  <a:srgbClr val="0B0F14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87171"/>
              </a:solidFill>
              <a:ln w="25400" cap="flat">
                <a:solidFill>
                  <a:srgbClr val="0B0F14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0B0F14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0B0F14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BENIGN</c:v>
                </c:pt>
                <c:pt idx="1">
                  <c:v>DDoS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97686</c:v>
                </c:pt>
                <c:pt idx="1">
                  <c:v>128025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E6EDF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6EDF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E6EDF3"/>
                </a:solidFill>
                <a:latin typeface="+mn-lt"/>
              </a:rPr>
              <a:t>Accuracy by model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%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E6EDF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DD4B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98A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98A5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Random Forest</c:v>
                  </c:pt>
                  <c:pt idx="1">
                    <c:v>Logistic Regression</c:v>
                  </c:pt>
                  <c:pt idx="2">
                    <c:v>Gradient Boosting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99.98</c:v>
                </c:pt>
                <c:pt idx="1">
                  <c:v>99.88</c:v>
                </c:pt>
                <c:pt idx="2">
                  <c:v>99.93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E6EDF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6EDF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99.7"/>
        </c:scaling>
        <c:delete val="0"/>
        <c:axPos val="l"/>
        <c:majorGridlines>
          <c:spPr>
            <a:ln w="9525" cap="flat">
              <a:solidFill>
                <a:srgbClr val="232D3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8B98A5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8B98A5"/>
                    </a:solidFill>
                    <a:latin typeface="Arial"/>
                  </a:rPr>
                  <a:t>Accuracy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8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0F14"/>
        </a:solidFill>
        <a:ln>
          <a:noFill/>
        </a:ln>
        <a:effectLst/>
      </c:spPr>
    </c:plotArea>
    <c:plotVisOnly val="1"/>
    <c:dispBlanksAs val="span"/>
  </c:chart>
  <c:spPr>
    <a:solidFill>
      <a:srgbClr val="0B0F14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6EDF3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E6EDF3"/>
                </a:solidFill>
                <a:latin typeface="+mn-lt"/>
              </a:rPr>
              <a:t>Ours vs. the published benchmark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%</c:v>
                </c:pt>
              </c:strCache>
            </c:strRef>
          </c:tx>
          <c:spPr>
            <a:solidFill>
              <a:srgbClr val="4ADE80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E6EDF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DE8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DD4BF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Our Random Forest</c:v>
                  </c:pt>
                  <c:pt idx="1">
                    <c:v>Paper's Random Forest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99.98</c:v>
                </c:pt>
                <c:pt idx="1">
                  <c:v>98.9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E6EDF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6EDF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95"/>
        </c:scaling>
        <c:delete val="0"/>
        <c:axPos val="b"/>
        <c:majorGridlines>
          <c:spPr>
            <a:ln w="9525" cap="flat">
              <a:solidFill>
                <a:srgbClr val="232D3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8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0F14"/>
        </a:solidFill>
        <a:ln>
          <a:noFill/>
        </a:ln>
        <a:effectLst/>
      </c:spPr>
    </c:plotArea>
    <c:plotVisOnly val="1"/>
    <c:dispBlanksAs val="span"/>
  </c:chart>
  <c:spPr>
    <a:solidFill>
      <a:srgbClr val="0B0F1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— introduce the team and the one-line pitch: a real-time DDoS detector built by reproducing a published paper, then deployed as a live cloud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in plain terms before naming the paper. Three cards: evolving attacks, outdated datasets, offline-only research.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Two-column split: what we reproduce from the paper vs. what we add on top (the deployed service).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225,711 real flows after cleaning. Point out the live dataset section on the website shows this exact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Emphasize train-only fitting to avoid leakage — matches the paper’s method exactly.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Chart highlights Random Forest in teal. Table gives the supporting numbers. Explain the speed/accuracy tradeoff.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upfront: we exceed the paper because our slice of the task is narrower, not because of a better method. This is the answer to the first Q&amp;A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makes this portable — same image runs on Render or AWS EC2 with no code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deployments, two service models — PaaS and IaaS — same Docker image on both. Open the Render URL live here if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Mirror the "what we achieved" summary style, but every line here is something the audience just watched happen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floor for questions. Keep the live site open in a browser tab in case someone wants to see something specific.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31720"/>
            <a:ext cx="1051560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DDOS DETECTOR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cloud-ddos-detector.onrender.com" TargetMode="External"/><Relationship Id="rId1" Type="http://schemas.openxmlformats.org/officeDocument/2006/relationships/image" Target="../media/image-9-1.png"/><Relationship Id="rId3" Type="http://schemas.openxmlformats.org/officeDocument/2006/relationships/image" Target="../media/image-9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(23N014)  ·  TEAM PROJECT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22960" y="233172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DDoS Detector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8862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real-time DDoS attack detection for cloud environments — reproducing a 2025 Scientific Reports benchmark as a live, deployed microservice.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Add team member names here ]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949440" y="6309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Abiramasundari &amp; Ramaswamy, Scientific Reports 2025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074920"/>
            <a:ext cx="310896" cy="31089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25296" y="50474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service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5074920"/>
            <a:ext cx="310896" cy="3108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242816" y="50474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attack traffic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74920"/>
            <a:ext cx="310896" cy="3108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260336" y="50474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detection</a:t>
            </a:r>
            <a:endParaRPr lang="en-US" sz="1200" dirty="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DDoS attacks are outpacing offline research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121821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9202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26060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Evolving attacks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310896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Signature-based intrusion detection can't adapt fast enough to new DDoS traffic shapes.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34840" y="160020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121821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92024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754880" y="26060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Outdated datasets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4754880" y="310896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benchmark IDS datasets predate modern traffic diversity and realistic attack variety.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229600" y="160020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121821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192024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549640" y="26060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Offline-only research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8549640" y="310896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papers stop at an accuracy number in a notebook — never a deployable, real-time service.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1097280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Reproduce the paper's benchmark, then ship it as a live service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121821"/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0116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27432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the paper's pipeline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3429000"/>
            <a:ext cx="4480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Random Forest, Logistic Regression and Gradient Boosting on real CICIDS2017 traffic using the clean → scale → PCA method, targeting the paper’s 98.9% Random Forest benchmark.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164592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121821"/>
          </a:solidFill>
          <a:ln w="15875">
            <a:solidFill>
              <a:srgbClr val="FACC1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01168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0664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INNOVATE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6675120" y="27432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 it as a live service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6675120" y="3429000"/>
            <a:ext cx="4480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the trained model as a containerized FastAPI microservice with a real-time monitoring dashboard — turning an offline benchmark into a demoable, cloud-deployed product.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1097280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 · DATASET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network traffic, not synthetic data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CIC-IDS2017 (Canadian Institute for Cybersecurity, UNB) — Friday-afternoon DDoS capture, official MachineLearningCSV release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108960" cy="1051560"/>
          </a:xfrm>
          <a:prstGeom prst="roundRect">
            <a:avLst>
              <a:gd name="adj" fmla="val 8696"/>
            </a:avLst>
          </a:prstGeom>
          <a:solidFill>
            <a:srgbClr val="12182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75688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225,711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243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flow records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931920" y="1965960"/>
            <a:ext cx="3108960" cy="1051560"/>
          </a:xfrm>
          <a:prstGeom prst="roundRect">
            <a:avLst>
              <a:gd name="adj" fmla="val 8696"/>
            </a:avLst>
          </a:prstGeom>
          <a:solidFill>
            <a:srgbClr val="12182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160520" y="2075688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160520" y="26243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 / flow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200400"/>
            <a:ext cx="3108960" cy="1051560"/>
          </a:xfrm>
          <a:prstGeom prst="roundRect">
            <a:avLst>
              <a:gd name="adj" fmla="val 8696"/>
            </a:avLst>
          </a:prstGeom>
          <a:solidFill>
            <a:srgbClr val="12182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3310128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97,686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38587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flows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31920" y="3200400"/>
            <a:ext cx="3108960" cy="1051560"/>
          </a:xfrm>
          <a:prstGeom prst="roundRect">
            <a:avLst>
              <a:gd name="adj" fmla="val 8696"/>
            </a:avLst>
          </a:prstGeom>
          <a:solidFill>
            <a:srgbClr val="12182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160520" y="3310128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128,025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4160520" y="38587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flows</a:t>
            </a:r>
            <a:endParaRPr lang="en-US" sz="12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7406640" y="1965960"/>
          <a:ext cx="41148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640080" y="48920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12182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914400" y="50474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 COLUMNS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53492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Destination Port, Flow Duration, Flow Bytes/s, Flow Packets/s, SYN Flag Count, ... Label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1097280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 · PREPROCESSING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flow records to model-ready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965960" cy="2103120"/>
          </a:xfrm>
          <a:prstGeom prst="roundRect">
            <a:avLst>
              <a:gd name="adj" fmla="val 4651"/>
            </a:avLst>
          </a:prstGeom>
          <a:solidFill>
            <a:srgbClr val="121821"/>
          </a:solidFill>
          <a:ln w="12700">
            <a:solidFill>
              <a:srgbClr val="232D3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317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04672" y="2971800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04672" y="3383280"/>
            <a:ext cx="16367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Inf/NaN rows</a:t>
            </a:r>
            <a:endParaRPr lang="en-US" sz="11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328" y="3044952"/>
            <a:ext cx="219456" cy="21945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862072" y="2103120"/>
            <a:ext cx="1965960" cy="2103120"/>
          </a:xfrm>
          <a:prstGeom prst="roundRect">
            <a:avLst>
              <a:gd name="adj" fmla="val 4651"/>
            </a:avLst>
          </a:prstGeom>
          <a:solidFill>
            <a:srgbClr val="121821"/>
          </a:solidFill>
          <a:ln w="12700">
            <a:solidFill>
              <a:srgbClr val="232D3A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4952" y="233172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026664" y="2971800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Encode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3026664" y="3383280"/>
            <a:ext cx="16367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BENIGN=0, attack=1</a:t>
            </a:r>
            <a:endParaRPr lang="en-US" sz="11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044952"/>
            <a:ext cx="219456" cy="219456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084064" y="2103120"/>
            <a:ext cx="1965960" cy="2103120"/>
          </a:xfrm>
          <a:prstGeom prst="roundRect">
            <a:avLst>
              <a:gd name="adj" fmla="val 4651"/>
            </a:avLst>
          </a:prstGeom>
          <a:solidFill>
            <a:srgbClr val="121821"/>
          </a:solidFill>
          <a:ln w="12700">
            <a:solidFill>
              <a:srgbClr val="232D3A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6944" y="2331720"/>
            <a:ext cx="457200" cy="45720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5248656" y="2971800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70/30</a:t>
            </a:r>
            <a:endParaRPr lang="en-US" sz="1500" dirty="0"/>
          </a:p>
        </p:txBody>
      </p:sp>
      <p:sp>
        <p:nvSpPr>
          <p:cNvPr id="17" name="Text 10"/>
          <p:cNvSpPr txBox="1"/>
          <p:nvPr/>
        </p:nvSpPr>
        <p:spPr>
          <a:xfrm>
            <a:off x="5248656" y="3383280"/>
            <a:ext cx="16367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</a:t>
            </a:r>
            <a:endParaRPr lang="en-US" sz="11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8312" y="3044952"/>
            <a:ext cx="219456" cy="219456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7306056" y="2103120"/>
            <a:ext cx="1965960" cy="2103120"/>
          </a:xfrm>
          <a:prstGeom prst="roundRect">
            <a:avLst>
              <a:gd name="adj" fmla="val 4651"/>
            </a:avLst>
          </a:prstGeom>
          <a:solidFill>
            <a:srgbClr val="121821"/>
          </a:solidFill>
          <a:ln w="12700">
            <a:solidFill>
              <a:srgbClr val="232D3A"/>
            </a:solidFill>
            <a:prstDash val="solid"/>
          </a:ln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88936" y="2331720"/>
            <a:ext cx="457200" cy="45720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7470648" y="2971800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Oversample</a:t>
            </a:r>
            <a:endParaRPr lang="en-US" sz="1500" dirty="0"/>
          </a:p>
        </p:txBody>
      </p:sp>
      <p:sp>
        <p:nvSpPr>
          <p:cNvPr id="22" name="Text 13"/>
          <p:cNvSpPr txBox="1"/>
          <p:nvPr/>
        </p:nvSpPr>
        <p:spPr>
          <a:xfrm>
            <a:off x="7470648" y="3383280"/>
            <a:ext cx="16367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classes</a:t>
            </a:r>
            <a:endParaRPr lang="en-US" sz="115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0304" y="3044952"/>
            <a:ext cx="219456" cy="219456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9528048" y="2103120"/>
            <a:ext cx="1965960" cy="2103120"/>
          </a:xfrm>
          <a:prstGeom prst="roundRect">
            <a:avLst>
              <a:gd name="adj" fmla="val 4651"/>
            </a:avLst>
          </a:prstGeom>
          <a:solidFill>
            <a:srgbClr val="121821"/>
          </a:solidFill>
          <a:ln w="19050">
            <a:solidFill>
              <a:srgbClr val="2DD4BF"/>
            </a:solidFill>
            <a:prstDash val="solid"/>
          </a:ln>
        </p:spPr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10928" y="2331720"/>
            <a:ext cx="457200" cy="457200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9692640" y="2971800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+ PCA</a:t>
            </a:r>
            <a:endParaRPr lang="en-US" sz="1500" dirty="0"/>
          </a:p>
        </p:txBody>
      </p:sp>
      <p:sp>
        <p:nvSpPr>
          <p:cNvPr id="27" name="Text 16"/>
          <p:cNvSpPr txBox="1"/>
          <p:nvPr/>
        </p:nvSpPr>
        <p:spPr>
          <a:xfrm>
            <a:off x="9692640" y="3383280"/>
            <a:ext cx="16367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features → 60</a:t>
            </a:r>
            <a:endParaRPr lang="en-US" sz="1150" dirty="0"/>
          </a:p>
        </p:txBody>
      </p:sp>
      <p:sp>
        <p:nvSpPr>
          <p:cNvPr id="28" name="Shape 17"/>
          <p:cNvSpPr/>
          <p:nvPr/>
        </p:nvSpPr>
        <p:spPr>
          <a:xfrm>
            <a:off x="640080" y="452628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121821"/>
          </a:solidFill>
          <a:ln/>
        </p:spPr>
      </p:sp>
      <p:sp>
        <p:nvSpPr>
          <p:cNvPr id="29" name="Text 18"/>
          <p:cNvSpPr txBox="1"/>
          <p:nvPr/>
        </p:nvSpPr>
        <p:spPr>
          <a:xfrm>
            <a:off x="914400" y="4709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fit on the TRAIN split only — zero test-set leakage, matching the paper’s method exactly.</a:t>
            </a:r>
            <a:endParaRPr lang="en-US" sz="1300" dirty="0"/>
          </a:p>
        </p:txBody>
      </p:sp>
      <p:sp>
        <p:nvSpPr>
          <p:cNvPr id="30" name="Text 19"/>
          <p:cNvSpPr txBox="1"/>
          <p:nvPr/>
        </p:nvSpPr>
        <p:spPr>
          <a:xfrm>
            <a:off x="8778240" y="4709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 variance retained</a:t>
            </a:r>
            <a:endParaRPr lang="en-US" sz="1500" dirty="0"/>
          </a:p>
        </p:txBody>
      </p:sp>
      <p:sp>
        <p:nvSpPr>
          <p:cNvPr id="31" name="Text 20"/>
          <p:cNvSpPr txBox="1"/>
          <p:nvPr/>
        </p:nvSpPr>
        <p:spPr>
          <a:xfrm>
            <a:off x="1097280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 · MODEL TRAINING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models, trained and compared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463040"/>
          <a:ext cx="64008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645920"/>
          <a:ext cx="4114800" cy="2377440"/>
        </p:xfrm>
        <a:graphic>
          <a:graphicData uri="http://schemas.openxmlformats.org/drawingml/2006/table">
            <a:tbl>
              <a:tblPr/>
              <a:tblGrid>
                <a:gridCol w="2103120"/>
                <a:gridCol w="1005840"/>
                <a:gridCol w="1005840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B98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8B98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8B98A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Train time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0F1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ADE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17.12s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0F1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82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99.89%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82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0.32s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82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178.03s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0F14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406640" y="420624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wins on F1 and is our production model — Logistic Regression trains 50× faster but trades recall; Gradient Boosting takes 10× longer for no real gain.</a:t>
            </a:r>
            <a:endParaRPr lang="en-US" sz="1250" dirty="0"/>
          </a:p>
        </p:txBody>
      </p:sp>
      <p:sp>
        <p:nvSpPr>
          <p:cNvPr id="7" name="Text 3"/>
          <p:cNvSpPr txBox="1"/>
          <p:nvPr/>
        </p:nvSpPr>
        <p:spPr>
          <a:xfrm>
            <a:off x="1097280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04 · RESULTS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99.98% accuracy on real attack traffic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463040"/>
          <a:ext cx="60350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480060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number sits slightly above the paper’s because we train on one day’s binary BENIGN-vs-DDoS task; the paper’s 98.9% averages across 5 days and multiple attack types — a harder, broader problem.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086600" y="1463040"/>
            <a:ext cx="4434840" cy="4434840"/>
          </a:xfrm>
          <a:prstGeom prst="roundRect">
            <a:avLst>
              <a:gd name="adj" fmla="val 2474"/>
            </a:avLst>
          </a:prstGeom>
          <a:solidFill>
            <a:srgbClr val="12182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406640" y="1691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CONFUSION MATRIX · 67,714 TEST FLOWS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406640" y="2194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 (benign)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0058400" y="21945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29,303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406640" y="28803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0" y="28803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406640" y="3566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0" y="35661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406640" y="42519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 (attack)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0" y="42519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38,399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097280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05 · CLOUD ARCHITECTURE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Packaged as a cloud-native microservice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121821"/>
          </a:solidFill>
          <a:ln w="12700">
            <a:solidFill>
              <a:srgbClr val="232D3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3060" y="20116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697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Trained Model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1089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+ scaler + PCA, saved as .joblib</a:t>
            </a:r>
            <a:endParaRPr lang="en-US" sz="11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679192"/>
            <a:ext cx="219456" cy="21945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474720" y="173736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121821"/>
          </a:solidFill>
          <a:ln w="12700">
            <a:solidFill>
              <a:srgbClr val="232D3A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700" y="2011680"/>
            <a:ext cx="548640" cy="5486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611880" y="2697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Service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3611880" y="31089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 serving live predictions</a:t>
            </a:r>
            <a:endParaRPr lang="en-US" sz="11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2679192"/>
            <a:ext cx="219456" cy="219456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309360" y="173736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121821"/>
          </a:solidFill>
          <a:ln w="12700">
            <a:solidFill>
              <a:srgbClr val="232D3A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2340" y="2011680"/>
            <a:ext cx="548640" cy="54864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6446520" y="2697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Container</a:t>
            </a:r>
            <a:endParaRPr lang="en-US" sz="1500" dirty="0"/>
          </a:p>
        </p:txBody>
      </p:sp>
      <p:sp>
        <p:nvSpPr>
          <p:cNvPr id="17" name="Text 10"/>
          <p:cNvSpPr txBox="1"/>
          <p:nvPr/>
        </p:nvSpPr>
        <p:spPr>
          <a:xfrm>
            <a:off x="6446520" y="31089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image, build once run anywhere</a:t>
            </a:r>
            <a:endParaRPr lang="en-US" sz="11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0" y="2679192"/>
            <a:ext cx="219456" cy="219456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9144000" y="173736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121821"/>
          </a:solidFill>
          <a:ln w="19050">
            <a:solidFill>
              <a:srgbClr val="2DD4BF"/>
            </a:solidFill>
            <a:prstDash val="solid"/>
          </a:ln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26980" y="2011680"/>
            <a:ext cx="548640" cy="54864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9281160" y="2697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Platform</a:t>
            </a:r>
            <a:endParaRPr lang="en-US" sz="1500" dirty="0"/>
          </a:p>
        </p:txBody>
      </p:sp>
      <p:sp>
        <p:nvSpPr>
          <p:cNvPr id="22" name="Text 13"/>
          <p:cNvSpPr txBox="1"/>
          <p:nvPr/>
        </p:nvSpPr>
        <p:spPr>
          <a:xfrm>
            <a:off x="9281160" y="31089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(live) · AWS EC2</a:t>
            </a:r>
            <a:endParaRPr lang="en-US" sz="1150" dirty="0"/>
          </a:p>
        </p:txBody>
      </p:sp>
      <p:sp>
        <p:nvSpPr>
          <p:cNvPr id="23" name="Shape 14"/>
          <p:cNvSpPr/>
          <p:nvPr/>
        </p:nvSpPr>
        <p:spPr>
          <a:xfrm>
            <a:off x="640080" y="434340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121821"/>
          </a:solidFill>
          <a:ln/>
        </p:spPr>
      </p:sp>
      <p:sp>
        <p:nvSpPr>
          <p:cNvPr id="24" name="Text 15"/>
          <p:cNvSpPr txBox="1"/>
          <p:nvPr/>
        </p:nvSpPr>
        <p:spPr>
          <a:xfrm>
            <a:off x="640080" y="43434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/health</a:t>
            </a:r>
            <a:endParaRPr lang="en-US" sz="1300" dirty="0"/>
          </a:p>
        </p:txBody>
      </p:sp>
      <p:sp>
        <p:nvSpPr>
          <p:cNvPr id="25" name="Shape 16"/>
          <p:cNvSpPr/>
          <p:nvPr/>
        </p:nvSpPr>
        <p:spPr>
          <a:xfrm>
            <a:off x="3474720" y="434340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121821"/>
          </a:solidFill>
          <a:ln/>
        </p:spPr>
      </p:sp>
      <p:sp>
        <p:nvSpPr>
          <p:cNvPr id="26" name="Text 17"/>
          <p:cNvSpPr txBox="1"/>
          <p:nvPr/>
        </p:nvSpPr>
        <p:spPr>
          <a:xfrm>
            <a:off x="3474720" y="43434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/features</a:t>
            </a:r>
            <a:endParaRPr lang="en-US" sz="1300" dirty="0"/>
          </a:p>
        </p:txBody>
      </p:sp>
      <p:sp>
        <p:nvSpPr>
          <p:cNvPr id="27" name="Shape 18"/>
          <p:cNvSpPr/>
          <p:nvPr/>
        </p:nvSpPr>
        <p:spPr>
          <a:xfrm>
            <a:off x="6309360" y="434340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121821"/>
          </a:solidFill>
          <a:ln/>
        </p:spPr>
      </p:sp>
      <p:sp>
        <p:nvSpPr>
          <p:cNvPr id="28" name="Text 19"/>
          <p:cNvSpPr txBox="1"/>
          <p:nvPr/>
        </p:nvSpPr>
        <p:spPr>
          <a:xfrm>
            <a:off x="6309360" y="43434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/predict</a:t>
            </a:r>
            <a:endParaRPr lang="en-US" sz="1300" dirty="0"/>
          </a:p>
        </p:txBody>
      </p:sp>
      <p:sp>
        <p:nvSpPr>
          <p:cNvPr id="29" name="Shape 20"/>
          <p:cNvSpPr/>
          <p:nvPr/>
        </p:nvSpPr>
        <p:spPr>
          <a:xfrm>
            <a:off x="9144000" y="434340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121821"/>
          </a:solidFill>
          <a:ln/>
        </p:spPr>
      </p:sp>
      <p:sp>
        <p:nvSpPr>
          <p:cNvPr id="30" name="Text 21"/>
          <p:cNvSpPr txBox="1"/>
          <p:nvPr/>
        </p:nvSpPr>
        <p:spPr>
          <a:xfrm>
            <a:off x="9144000" y="43434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/predict/batch</a:t>
            </a:r>
            <a:endParaRPr lang="en-US" sz="1300" dirty="0"/>
          </a:p>
        </p:txBody>
      </p:sp>
      <p:sp>
        <p:nvSpPr>
          <p:cNvPr id="31" name="Text 22"/>
          <p:cNvSpPr txBox="1"/>
          <p:nvPr/>
        </p:nvSpPr>
        <p:spPr>
          <a:xfrm>
            <a:off x="1097280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06 · LIVE DEPLOYMENT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on two real cloud platforms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121821"/>
          </a:solidFill>
          <a:ln w="19050">
            <a:solidFill>
              <a:srgbClr val="4ADE8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9202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NOW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25146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 (PaaS)</a:t>
            </a:r>
            <a:endParaRPr lang="en-US" sz="2200" dirty="0"/>
          </a:p>
        </p:txBody>
      </p:sp>
      <p:sp>
        <p:nvSpPr>
          <p:cNvPr id="8" name="Text 5">
            <a:hlinkClick r:id="rId2" tooltip=""/>
          </p:cNvPr>
          <p:cNvSpPr txBox="1"/>
          <p:nvPr/>
        </p:nvSpPr>
        <p:spPr>
          <a:xfrm>
            <a:off x="960120" y="3017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cloud-ddos-detector.onrender.com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352044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straight from our GitHub repo via a Dockerfile + render.yaml blueprint — no credit card required. Free tier sleeps after 15 min idle.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72200" y="160020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121821"/>
          </a:solidFill>
          <a:ln w="19050">
            <a:solidFill>
              <a:srgbClr val="FACC1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92024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3232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DEMONSTRATION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6492240" y="25146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EC2 (IaaS)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6492240" y="3017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virtual machine, provisioned via the AWS CLI, running the same Docker image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492240" y="361188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container that runs on Render runs unmodified on an EC2 instance — proof that this is genuinely cloud-portable infrastructure, not a platform-specific hack.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1097280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working, demoable, cloud-ready DDoS detector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12182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202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69164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99.98% accuracy on real CICIDS2017 traffic, matching the reference paper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278892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12182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017520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278892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predictions in milliseconds via a REST microservice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40080" y="388620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121821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11480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600200" y="38862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two real cloud platforms — Render and AWS EC2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640080" y="498348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121821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212080"/>
            <a:ext cx="457200" cy="4572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600200" y="498348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live, public dashboard — not just slides, an actual running demo</a:t>
            </a:r>
            <a:endParaRPr lang="en-US" sz="1600" dirty="0"/>
          </a:p>
        </p:txBody>
      </p:sp>
      <p:sp>
        <p:nvSpPr>
          <p:cNvPr id="16" name="Text 10"/>
          <p:cNvSpPr txBox="1"/>
          <p:nvPr/>
        </p:nvSpPr>
        <p:spPr>
          <a:xfrm>
            <a:off x="1097280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22960" y="233172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8862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cloud-ddos-detector.onrender.com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434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8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github.com/RohithDharshan/Cloud-DDoS-Detector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3931920"/>
            <a:ext cx="1463040" cy="146304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CloudDDoS">
  <a:themeElements>
    <a:clrScheme name="CloudDDoS">
      <a:dk1>
        <a:srgbClr val="0B0F14"/>
      </a:dk1>
      <a:lt1>
        <a:srgbClr val="FFFFFF"/>
      </a:lt1>
      <a:dk2>
        <a:srgbClr val="121821"/>
      </a:dk2>
      <a:lt2>
        <a:srgbClr val="E6EDF3"/>
      </a:lt2>
      <a:accent1>
        <a:srgbClr val="2DD4BF"/>
      </a:accent1>
      <a:accent2>
        <a:srgbClr val="4ADE80"/>
      </a:accent2>
      <a:accent3>
        <a:srgbClr val="F87171"/>
      </a:accent3>
      <a:accent4>
        <a:srgbClr val="FACC15"/>
      </a:accent4>
      <a:accent5>
        <a:srgbClr val="8B98A5"/>
      </a:accent5>
      <a:accent6>
        <a:srgbClr val="232D3A"/>
      </a:accent6>
      <a:hlink>
        <a:srgbClr val="2DD4BF"/>
      </a:hlink>
      <a:folHlink>
        <a:srgbClr val="2DD4BF"/>
      </a:folHlink>
    </a:clrScheme>
    <a:fontScheme name="CloudDDo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DDoS Detector</dc:title>
  <dc:subject>PptxGenJS Presentation</dc:subject>
  <dc:creator>Cloud Computing (23N014) Team</dc:creator>
  <cp:lastModifiedBy>Cloud Computing (23N014) Team</cp:lastModifiedBy>
  <cp:revision>1</cp:revision>
  <dcterms:created xsi:type="dcterms:W3CDTF">2026-10-13T12:57:23Z</dcterms:created>
  <dcterms:modified xsi:type="dcterms:W3CDTF">2026-10-13T12:57:23Z</dcterms:modified>
</cp:coreProperties>
</file>